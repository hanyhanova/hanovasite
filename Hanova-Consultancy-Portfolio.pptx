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1B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nova-mark-on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86588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1720" y="7772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HANOVA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1720" y="11430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FD8C1"/>
                </a:solidFill>
                <a:latin typeface="Calibri"/>
              </a:rPr>
              <a:t>C O N S U L T A N C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Strategy  ·  Transformation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Georgia"/>
              </a:rPr>
              <a:t>From Strategy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1">
                <a:solidFill>
                  <a:srgbClr val="14B391"/>
                </a:solidFill>
                <a:latin typeface="Georgia"/>
              </a:rPr>
              <a:t>Measurable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Company Portfolio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FDBE8"/>
                </a:solidFill>
                <a:latin typeface="Calibri"/>
              </a:rPr>
              <a:t>An execution-driven consultancy partnering with executives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FDBE8"/>
                </a:solidFill>
                <a:latin typeface="Calibri"/>
              </a:rPr>
              <a:t>to transform organizational strategy into quantifiable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943600"/>
            <a:ext cx="18288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6126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FD8C1"/>
                </a:solidFill>
                <a:latin typeface="Calibri"/>
              </a:rPr>
              <a:t>RIYADH  ·  KINGDOM OF SAUDI ARABIA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hanovaconsultancy.com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02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Contents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46888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6888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About Hanova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49753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5292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Our Approach &amp; Philosophy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33801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23697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3697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Four Pillars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17849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21024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21024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Service Practice Areas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01897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00507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0507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Industries We Serve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5945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38912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Why Hanova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69993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0" y="246888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46888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Regulatory &amp; Operational Fluency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849753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2852928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85292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Measured Impact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233801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323697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23697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Executive Workshops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617849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0" y="3621024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621024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Engagement 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001897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35040" y="4005072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00507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Leadership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385945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0" y="43891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38912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54A"/>
                </a:solidFill>
                <a:latin typeface="Georgia"/>
              </a:rPr>
              <a:t>Contact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769993"/>
            <a:ext cx="4937760" cy="3175"/>
          </a:xfrm>
          <a:prstGeom prst="rect">
            <a:avLst/>
          </a:prstGeom>
          <a:solidFill>
            <a:srgbClr val="D9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03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02  · 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An execution-driven consultancy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built for complex transformation.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0604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254A"/>
                </a:solidFill>
                <a:latin typeface="Calibri"/>
              </a:rPr>
              <a:t>Hanova Consultancy brings physician-led strategic thinking and deep operational expertise to the most challenging transformation mandates facing today's executives.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254A"/>
                </a:solidFill>
                <a:latin typeface="Calibri"/>
              </a:rPr>
              <a:t>We don't deliver reports — we deliver results. Our multi-entity experience spans healthcare systems, financial institutions, government bodies, and growth-stage enterprises — each engagement anchored in KPI governance and measurable ROI.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606040"/>
            <a:ext cx="1874519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2834640"/>
            <a:ext cx="1508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254A"/>
                </a:solidFill>
                <a:latin typeface="Georgia"/>
              </a:rPr>
              <a:t>15+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1508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688"/>
                </a:solidFill>
                <a:latin typeface="Calibri"/>
              </a:rPr>
              <a:t>Years of Executive Advisory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19" y="2606040"/>
            <a:ext cx="1874519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399" y="2834640"/>
            <a:ext cx="1508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254A"/>
                </a:solidFill>
                <a:latin typeface="Georgia"/>
              </a:rPr>
              <a:t>40+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399" y="3657600"/>
            <a:ext cx="1508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688"/>
                </a:solidFill>
                <a:latin typeface="Calibri"/>
              </a:rPr>
              <a:t>Transformation Mandates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434840"/>
            <a:ext cx="1874519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4663440"/>
            <a:ext cx="1508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254A"/>
                </a:solidFill>
                <a:latin typeface="Georgia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486400"/>
            <a:ext cx="1508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688"/>
                </a:solidFill>
                <a:latin typeface="Calibri"/>
              </a:rPr>
              <a:t>Industries Served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19" y="4434840"/>
            <a:ext cx="1874519" cy="1691640"/>
          </a:xfrm>
          <a:prstGeom prst="rect">
            <a:avLst/>
          </a:prstGeom>
          <a:solidFill>
            <a:srgbClr val="14254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399" y="4663440"/>
            <a:ext cx="1508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B391"/>
                </a:solidFill>
                <a:latin typeface="Georgia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399" y="5486400"/>
            <a:ext cx="1508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Execution-Driven Engagements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04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03  · 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From insight to embedded outcome.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26974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254A"/>
                </a:solidFill>
                <a:latin typeface="Georgia"/>
              </a:rPr>
              <a:t>DISCOVER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7764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4254A"/>
                </a:solidFill>
                <a:latin typeface="Calibri"/>
              </a:rPr>
              <a:t>Diagnostic immersion across leadership, operations, and data — establishing the real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0712" y="26974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85032" y="29718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38328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254A"/>
                </a:solidFill>
                <a:latin typeface="Georgia"/>
              </a:rPr>
              <a:t>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5032" y="397764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85032" y="4206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4254A"/>
                </a:solidFill>
                <a:latin typeface="Calibri"/>
              </a:rPr>
              <a:t>Evidence-based strategy, prioritized roadmap, and KPI architecture co-built with executive sponsors.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4" y="26974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29718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38328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254A"/>
                </a:solidFill>
                <a:latin typeface="Georgia"/>
              </a:rPr>
              <a:t>DELIVER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47104" y="397764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4206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4254A"/>
                </a:solidFill>
                <a:latin typeface="Calibri"/>
              </a:rPr>
              <a:t>Hands-on execution alongside your teams — systems, workflows, governance, and capability.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4856" y="26974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09176" y="29718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338328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4254A"/>
                </a:solidFill>
                <a:latin typeface="Georgia"/>
              </a:rPr>
              <a:t>EMBED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09176" y="397764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09176" y="4206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4254A"/>
                </a:solidFill>
                <a:latin typeface="Calibri"/>
              </a:rPr>
              <a:t>Performance governance, training, and handover — outcomes sustained long after we leave.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-on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04  · 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Georgia"/>
              </a:rPr>
              <a:t>Four pillars. One outcome.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48640" cy="2857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2697480" cy="329184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B391"/>
                </a:solidFill>
                <a:latin typeface="Georgia"/>
              </a:rP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CFDBE8"/>
                </a:solidFill>
                <a:latin typeface="Calibri"/>
              </a:rPr>
              <a:t>Evidence-based strategic frameworks designed for real-world complexity and executive decision-making.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2" y="2697480"/>
            <a:ext cx="2697480" cy="329184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301752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B391"/>
                </a:solidFill>
                <a:latin typeface="Georgia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794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Data &amp; Intelligence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85032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85032" y="461772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CFDBE8"/>
                </a:solidFill>
                <a:latin typeface="Calibri"/>
              </a:rPr>
              <a:t>From raw data to boardroom-ready insight — BI architecture, KPI governance, and analytics maturity.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2697480"/>
            <a:ext cx="2697480" cy="329184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301752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B391"/>
                </a:solidFill>
                <a:latin typeface="Georgia"/>
              </a:rPr>
              <a:t>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794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Digital Transformation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7104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461772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CFDBE8"/>
                </a:solidFill>
                <a:latin typeface="Calibri"/>
              </a:rPr>
              <a:t>End-to-end digital enablement — systems, integration, and scalable solutions that last beyond the engagement.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34856" y="2697480"/>
            <a:ext cx="2697480" cy="329184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9176" y="301752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B391"/>
                </a:solidFill>
                <a:latin typeface="Georgia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379476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Measurable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9176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09176" y="461772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CFDBE8"/>
                </a:solidFill>
                <a:latin typeface="Calibri"/>
              </a:rPr>
              <a:t>Every mandate is anchored in clear KPIs. We govern performance, not just process.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FD8C1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FD8C1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06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05  ·  PRACTICE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What we do.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260604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45720" cy="1874519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Strategy &amp;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24612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Corporate strategy, organizational redesign, and full-cycle transformation programs.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60604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606040"/>
            <a:ext cx="45720" cy="1874519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2788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08960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Operations &amp; Revenue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03320"/>
            <a:ext cx="324612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Workflow redesign, revenue cycle management, and operational efficiency for sustainable growth.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60604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2606040"/>
            <a:ext cx="45720" cy="1874519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2788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08960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Data &amp; Business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03320"/>
            <a:ext cx="324612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End-to-end BI implementation, data governance, and real-time analytics infrastructure.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45151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645151"/>
            <a:ext cx="45720" cy="1874519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828031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48071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Digital Transformation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42431"/>
            <a:ext cx="324612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Technology roadmaps, system modernization, and digital capability building at enterprise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645151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4645151"/>
            <a:ext cx="45720" cy="1874519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4828031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148071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Integration &amp; Interoperability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742431"/>
            <a:ext cx="324612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System integration architecture, API ecosystems, and cross-platform data flows.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645151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4645151"/>
            <a:ext cx="45720" cy="1874519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0" y="4828031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148071"/>
            <a:ext cx="3246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Custom Digital Solutions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742431"/>
            <a:ext cx="324612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Bespoke software, intelligent automation, and purpose-built platforms for complex needs.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07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06  ·  INDUSTRIES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Where we work.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260604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0604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Healthcare &amp; Life Sciences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606040"/>
            <a:ext cx="56080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Hospitals, MOH entities, payers, and clinical networks.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4612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Financial Services &amp; 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246120"/>
            <a:ext cx="56080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Banks, insurers, and capital markets transformation.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8620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Government &amp; Public Sector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86200"/>
            <a:ext cx="56080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Vision 2030 program delivery and public service modernization.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52628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2628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Retail &amp; E-Commerce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526280"/>
            <a:ext cx="56080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Omnichannel operations, customer data, and unit economics.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6636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6636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Logistics &amp; Supply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166360"/>
            <a:ext cx="56080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Network design, visibility, and operational excellence.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1109441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80644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80644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Technology &amp; Startups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806440"/>
            <a:ext cx="56080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Scale-up advisory, GTM, and operating model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08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07  ·  WHY HANOVA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Differentiated by design.</a:t>
            </a:r>
          </a:p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Proven in practice.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2606040"/>
            <a:ext cx="5532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926080"/>
            <a:ext cx="228600" cy="1905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78892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Physician-Led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Clinical leadership background enables precision in highly regulated, complex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06040"/>
            <a:ext cx="5532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2926080"/>
            <a:ext cx="228600" cy="1905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278892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Real Multi-Entity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We have operated inside the systems we advise — across hospitals, government, finance, and tech.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5532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343400"/>
            <a:ext cx="228600" cy="1905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20624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Execution-Driven, Not Report-Driven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1772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Our mandate ends when results are embedded — not when the deck is delivered.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023360"/>
            <a:ext cx="5532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4343400"/>
            <a:ext cx="228600" cy="1905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20624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KPI Governance &amp; Revenue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1772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We build performance governance that outlasts the engagement.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40680"/>
            <a:ext cx="5532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" y="5760720"/>
            <a:ext cx="228600" cy="1905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6235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Regulatory &amp; Operational Fluency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03504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Deep familiarity with NDMO, PDPL, JCI, CBAHI, and Vision 2030.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440680"/>
            <a:ext cx="5532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5760720"/>
            <a:ext cx="228600" cy="1905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6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Senior-Led, Every Engagement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03504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No junior associates managing your transformation. Senior principals own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09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08  · 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Regulatory &amp; operational fluency.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06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B305C"/>
                </a:solidFill>
                <a:latin typeface="Calibri"/>
              </a:rPr>
              <a:t>We operate fluently within the frameworks that govern our clients' industries — accelerating delivery and de-risking transformation.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1847088" cy="18288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19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B391"/>
                </a:solidFill>
                <a:latin typeface="Georgia"/>
              </a:rPr>
              <a:t>NDMO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43584" y="4800599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937759"/>
            <a:ext cx="15727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National Data Management Office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3749039"/>
            <a:ext cx="1847088" cy="18288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4160519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B391"/>
                </a:solidFill>
                <a:latin typeface="Georgia"/>
              </a:rPr>
              <a:t>PDPL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9544" y="4800599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51760" y="4937759"/>
            <a:ext cx="15727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Personal Data Protection Law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749039"/>
            <a:ext cx="1847088" cy="18288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4160519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B391"/>
                </a:solidFill>
                <a:latin typeface="Georgia"/>
              </a:rPr>
              <a:t>JCI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75504" y="4800599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4937759"/>
            <a:ext cx="15727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Joint Commission International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749039"/>
            <a:ext cx="1847088" cy="18288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19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B391"/>
                </a:solidFill>
                <a:latin typeface="Georgia"/>
              </a:rPr>
              <a:t>CBAHI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1464" y="4800599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59"/>
            <a:ext cx="15727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Saudi Central Board for Accreditation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3749039"/>
            <a:ext cx="1847088" cy="18288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4160519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B391"/>
                </a:solidFill>
                <a:latin typeface="Georgia"/>
              </a:rPr>
              <a:t>Vision 2030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7424" y="4800599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49640" y="4937759"/>
            <a:ext cx="15727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Saudi Arabia transformation programs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78440" y="3749039"/>
            <a:ext cx="1847088" cy="18288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78440" y="4160519"/>
            <a:ext cx="18470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B391"/>
                </a:solidFill>
                <a:latin typeface="Georgia"/>
              </a:rPr>
              <a:t>HIPAA-aligned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73384" y="4800599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0" y="4937759"/>
            <a:ext cx="157276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Health information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-on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09  ·  MEASURED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FFFFFF"/>
                </a:solidFill>
                <a:latin typeface="Georgia"/>
              </a:rPr>
              <a:t>Results our clients have achieved.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548640" cy="2857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2697480" cy="310896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B391"/>
                </a:solidFill>
                <a:latin typeface="Georgia"/>
              </a:rPr>
              <a:t>+32%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71999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Revenue Cycle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CFDBE8"/>
                </a:solidFill>
                <a:latin typeface="Calibri"/>
              </a:rPr>
              <a:t>Healthcare system, post-operational redesign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2" y="2697480"/>
            <a:ext cx="2697480" cy="310896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3063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B391"/>
                </a:solidFill>
                <a:latin typeface="Georgia"/>
              </a:rPr>
              <a:t>-45%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5032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85032" y="4571999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Operational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512064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CFDBE8"/>
                </a:solidFill>
                <a:latin typeface="Calibri"/>
              </a:rPr>
              <a:t>Government entity, process optimization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2697480"/>
            <a:ext cx="2697480" cy="310896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3063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B391"/>
                </a:solidFill>
                <a:latin typeface="Georgia"/>
              </a:rPr>
              <a:t>3×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47104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4571999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Data Decision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512064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CFDBE8"/>
                </a:solidFill>
                <a:latin typeface="Calibri"/>
              </a:rPr>
              <a:t>Financial group, BI transformation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34856" y="2697480"/>
            <a:ext cx="2697480" cy="3108960"/>
          </a:xfrm>
          <a:prstGeom prst="rect">
            <a:avLst/>
          </a:prstGeom>
          <a:solidFill>
            <a:srgbClr val="1B305C"/>
          </a:solidFill>
          <a:ln w="9525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9176" y="3063240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B391"/>
                </a:solidFill>
                <a:latin typeface="Georgia"/>
              </a:rPr>
              <a:t>+28%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09176" y="4389120"/>
            <a:ext cx="4572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09176" y="4571999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Patient Satisfaction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512064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CFDBE8"/>
                </a:solidFill>
                <a:latin typeface="Calibri"/>
              </a:rPr>
              <a:t>Multi-specialty hospital, journey redesign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FD8C1"/>
                </a:solidFill>
                <a:latin typeface="Calibri"/>
              </a:rPr>
              <a:t>Selected outcomes — full case studies available on request.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FD8C1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11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10  ·  EXECUTIVE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Workshops designed for leaders who act.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06040"/>
            <a:ext cx="58521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254A"/>
                </a:solidFill>
                <a:latin typeface="Calibri"/>
              </a:rPr>
              <a:t>Our executive workshops are intensive, outcome-oriented programs that arm leadership teams with the frameworks, tools, and clarity required for transformational decision-making.</a:t>
            </a:r>
          </a:p>
          <a:p>
            <a:pPr algn="l">
              <a:lnSpc>
                <a:spcPct val="150000"/>
              </a:lnSpc>
            </a:pPr>
            <a:endParaRPr sz="1200" b="0" i="0">
              <a:solidFill>
                <a:srgbClr val="14254A"/>
              </a:solidFill>
              <a:latin typeface="Calibri"/>
            </a:endParaRP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254A"/>
                </a:solidFill>
                <a:latin typeface="Calibri"/>
              </a:rPr>
              <a:t>Delivered on-site or in immersive off-site formats, each engagement is custom-scoped to the client's strategic priorities and KPI mandates.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60604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2606040"/>
            <a:ext cx="45720" cy="59436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260604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6060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254A"/>
                </a:solidFill>
                <a:latin typeface="Georgia"/>
              </a:rPr>
              <a:t>Healthcare Transformation for Executives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29184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0" y="3291840"/>
            <a:ext cx="45720" cy="59436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329184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2918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254A"/>
                </a:solidFill>
                <a:latin typeface="Georgia"/>
              </a:rPr>
              <a:t>Data-Driven Decision Making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97764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0" y="3977640"/>
            <a:ext cx="45720" cy="59436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397764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9776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254A"/>
                </a:solidFill>
                <a:latin typeface="Georgia"/>
              </a:rPr>
              <a:t>KPI Governance &amp; Performance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66344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0" y="4663440"/>
            <a:ext cx="45720" cy="59436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466344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6634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254A"/>
                </a:solidFill>
                <a:latin typeface="Georgia"/>
              </a:rPr>
              <a:t>Revenue &amp; Operations Optimization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5349240"/>
            <a:ext cx="47548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0" y="5349240"/>
            <a:ext cx="45720" cy="59436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534924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3492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254A"/>
                </a:solidFill>
                <a:latin typeface="Georgia"/>
              </a:rPr>
              <a:t>Digital Transformation for Leaders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12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11  ·  ENGAGEMENT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How we work with you.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2606040"/>
            <a:ext cx="11094415" cy="41148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4B391"/>
                </a:solidFill>
                <a:latin typeface="Calibri"/>
              </a:rPr>
              <a:t>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0604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4B391"/>
                </a:solidFill>
                <a:latin typeface="Calibri"/>
              </a:rPr>
              <a:t>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6060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4B391"/>
                </a:solidFill>
                <a:latin typeface="Calibri"/>
              </a:rPr>
              <a:t>TYPICAL DURATION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27248"/>
            <a:ext cx="1109441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127248"/>
            <a:ext cx="45720" cy="77724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127248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Advisory Retainer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27248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Ongoing senior advisory to the executive office.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12724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54A"/>
                </a:solidFill>
                <a:latin typeface="Calibri"/>
              </a:rPr>
              <a:t>Quarterly  ·  Renewable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14216"/>
            <a:ext cx="1109441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14216"/>
            <a:ext cx="45720" cy="77724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014216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Transformation Mandate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1421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End-to-end program delivery with embedded teams.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014216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54A"/>
                </a:solidFill>
                <a:latin typeface="Calibri"/>
              </a:rPr>
              <a:t>6 – 18 months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01184"/>
            <a:ext cx="1109441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45720" cy="77724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901184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Diagnostic Sprint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901184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Fixed-scope diagnostic with prioritized roadmap.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901184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54A"/>
                </a:solidFill>
                <a:latin typeface="Calibri"/>
              </a:rPr>
              <a:t>4 – 8 weeks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788152"/>
            <a:ext cx="1109441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788152"/>
            <a:ext cx="45720" cy="77724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788152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54A"/>
                </a:solidFill>
                <a:latin typeface="Georgia"/>
              </a:rPr>
              <a:t>Executive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788152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305C"/>
                </a:solidFill>
                <a:latin typeface="Calibri"/>
              </a:rPr>
              <a:t>Custom-scoped leadership program, on or off-site.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78815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54A"/>
                </a:solidFill>
                <a:latin typeface="Calibri"/>
              </a:rPr>
              <a:t>1 – 5 days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254A"/>
                </a:solidFill>
                <a:latin typeface="Calibri"/>
              </a:rPr>
              <a:t>HANOVA CONSULTANCY</a:t>
            </a:r>
          </a:p>
        </p:txBody>
      </p:sp>
      <p:pic>
        <p:nvPicPr>
          <p:cNvPr id="5" name="Picture 4" descr="hanov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3" y="164592"/>
            <a:ext cx="393582" cy="45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6350"/>
          </a:xfrm>
          <a:prstGeom prst="rect">
            <a:avLst/>
          </a:prstGeom>
          <a:solidFill>
            <a:srgbClr val="CC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Hanova Consultancy  ·  From Strategy to Measurable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688"/>
                </a:solidFill>
                <a:latin typeface="Calibri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12  · 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0">
                <a:solidFill>
                  <a:srgbClr val="14254A"/>
                </a:solidFill>
                <a:latin typeface="Georgia"/>
              </a:rPr>
              <a:t>Senior-led. Always.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" cy="0"/>
          </a:xfrm>
          <a:prstGeom prst="line">
            <a:avLst/>
          </a:prstGeom>
          <a:ln w="28575">
            <a:solidFill>
              <a:srgbClr val="14B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06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305C"/>
                </a:solidFill>
                <a:latin typeface="Calibri"/>
              </a:rPr>
              <a:t>Every Hanova engagement is owned and delivered by senior principals — not staffed through junior associates. Our leadership combines clinical, operational, and technology depth with C-suite advisory experience.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3703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45720" cy="1143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Physician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Clinical insight, regulated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3657600"/>
            <a:ext cx="3703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0832" y="3657600"/>
            <a:ext cx="45720" cy="1143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384048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Executive Advisory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2519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C-suite and board-level partnership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3657600"/>
            <a:ext cx="3703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93024" y="3657600"/>
            <a:ext cx="45720" cy="1143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384048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Operational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42519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Built and run the systems we advise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19472"/>
            <a:ext cx="3703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919472"/>
            <a:ext cx="45720" cy="1143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102352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Technology Fluency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1383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BI, data, integration, automation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4919472"/>
            <a:ext cx="3703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70832" y="4919472"/>
            <a:ext cx="45720" cy="1143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45152" y="5102352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Public Sector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551383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Vision 2030 program delivery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4" y="4919472"/>
            <a:ext cx="37033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93024" y="4919472"/>
            <a:ext cx="45720" cy="1143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67344" y="5102352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54A"/>
                </a:solidFill>
                <a:latin typeface="Georgia"/>
              </a:rPr>
              <a:t>Regulatory Mastery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5513832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B305C"/>
                </a:solidFill>
                <a:latin typeface="Calibri"/>
              </a:rPr>
              <a:t>NDMO  ·  PDPL  ·  JCI  ·  CBAHI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1B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nova-mark-on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280" y="594360"/>
            <a:ext cx="110203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822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B391"/>
                </a:solidFill>
                <a:latin typeface="Calibri"/>
              </a:rPr>
              <a:t>13  ·  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0" i="0">
                <a:solidFill>
                  <a:srgbClr val="FFFFFF"/>
                </a:solidFill>
                <a:latin typeface="Georgia"/>
              </a:rPr>
              <a:t>Let's talk transformation.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14B391"/>
                </a:solidFill>
                <a:latin typeface="Georgia"/>
              </a:rPr>
              <a:t>Speak directly with a senior consultant.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91840"/>
            <a:ext cx="548640" cy="2857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FDBE8"/>
                </a:solidFill>
                <a:latin typeface="Calibri"/>
              </a:rPr>
              <a:t>No intake forms. No junior staff. Just a focused conversation about your organization's most pressing challenges.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5" y="21945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215" y="256032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info@hanovaconsultancy.com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3291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5" y="36576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hanovaconsultancy.com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215" y="43891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4B391"/>
                </a:solidFill>
                <a:latin typeface="Calibri"/>
              </a:rPr>
              <a:t>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215" y="475488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Riyadh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Kingdom of Saudi Arabia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035040"/>
            <a:ext cx="1828800" cy="9525"/>
          </a:xfrm>
          <a:prstGeom prst="rect">
            <a:avLst/>
          </a:prstGeom>
          <a:solidFill>
            <a:srgbClr val="14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6217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HANOVA  ·  CONSULTANCY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FD8C1"/>
                </a:solidFill>
                <a:latin typeface="Calibri"/>
              </a:rPr>
              <a:t>From Strategy to Measurable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1210</Words>
  <Application>Microsoft Office PowerPoint</Application>
  <PresentationFormat>Widescreen</PresentationFormat>
  <Paragraphs>257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Rafea</cp:lastModifiedBy>
  <cp:revision>1</cp:revision>
  <dcterms:created xsi:type="dcterms:W3CDTF">2013-01-27T09:14:16Z</dcterms:created>
  <dcterms:modified xsi:type="dcterms:W3CDTF">2026-04-29T08:48:55Z</dcterms:modified>
  <cp:category/>
</cp:coreProperties>
</file>